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5E5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417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Category Suite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971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procurement category strategy workbench in a single HTML file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guided steps from market scan to board-ready strategy, with AI assistance you can always audit.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42062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4038"/>
          </a:solidFill>
          <a:ln w="12700">
            <a:solidFill>
              <a:srgbClr val="0B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21081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file · no install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05456" y="420624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0B4038"/>
          </a:solidFill>
          <a:ln w="12700">
            <a:solidFill>
              <a:srgbClr val="0B4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5456" y="421081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fully offline (Sandbox)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55464" y="420624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B4038"/>
          </a:solidFill>
          <a:ln w="12700">
            <a:solidFill>
              <a:srgbClr val="0B40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421081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· Gemini · Sandbox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68312" y="420624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0B4038"/>
          </a:solidFill>
          <a:ln w="12700">
            <a:solidFill>
              <a:srgbClr val="0B4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8312" y="4210812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 · frozen 2026-07-14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 · feature guide · quick-start reference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CATEGORYAI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fragmented spreadsheets to one guided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strategy work is usually scattered across Excel, slide templates and tribal knowledge. CategoryAI puts the whole method in one place.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40680" cy="3017520"/>
          </a:xfrm>
          <a:prstGeom prst="roundRect">
            <a:avLst>
              <a:gd name="adj" fmla="val 2121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659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category manager rebuilds the same analysis from blank templates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(Kraljic, Five Forces, chessboard) applied inconsistently — or skipped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stall waiting for perfect internal spend data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trace of which numbers were evidence and which were assumptions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81928" y="1783080"/>
            <a:ext cx="5440680" cy="3017520"/>
          </a:xfrm>
          <a:prstGeom prst="roundRect">
            <a:avLst>
              <a:gd name="adj" fmla="val 2121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6248" y="19659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CategoryAI does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56248" y="233172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 the full CIPS-style method: 15 steps across six phases, in order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every model; you review, correct and confirm each input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 complete strategy from external market data alone — spend upload optional</a:t>
            </a:r>
            <a:endParaRPr lang="en-US" sz="11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every value as User, AI-inferred or Assumed, end to end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design principles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5440680"/>
            <a:ext cx="262432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559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data first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strategy never waits for internal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74136" y="5440680"/>
            <a:ext cx="262432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5559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transparency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8728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cell shows where it came from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1344" y="5440680"/>
            <a:ext cx="262432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5559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Accumulate, never overwrite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45936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appends suggestions; you keep or discard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88552" y="5440680"/>
            <a:ext cx="262432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3144" y="5559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by design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53144" y="5852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section states its sources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steps, six phases — the whole method, in 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navigation rail tracks completion per phase; each step unlocks from a single category name. Use this slide as your map of the app.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810512" cy="457200"/>
          </a:xfrm>
          <a:prstGeom prst="roundRect">
            <a:avLst>
              <a:gd name="adj" fmla="val 14000"/>
            </a:avLst>
          </a:prstGeom>
          <a:solidFill>
            <a:srgbClr val="0F5E56"/>
          </a:solidFill>
          <a:ln w="12700">
            <a:solidFill>
              <a:srgbClr val="0F5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8366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INTAKE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2395728"/>
            <a:ext cx="1810512" cy="3017520"/>
          </a:xfrm>
          <a:prstGeom prst="roundRect">
            <a:avLst>
              <a:gd name="adj" fmla="val 3535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542032"/>
            <a:ext cx="15910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profile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profile (optional CSV)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info hub + research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6020" y="1874520"/>
            <a:ext cx="1810512" cy="457200"/>
          </a:xfrm>
          <a:prstGeom prst="roundRect">
            <a:avLst>
              <a:gd name="adj" fmla="val 14000"/>
            </a:avLst>
          </a:prstGeom>
          <a:solidFill>
            <a:srgbClr val="0F5E56"/>
          </a:solidFill>
          <a:ln w="12700">
            <a:solidFill>
              <a:srgbClr val="0F5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6020" y="188366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ASSESSMENT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46020" y="2395728"/>
            <a:ext cx="1810512" cy="3017520"/>
          </a:xfrm>
          <a:prstGeom prst="roundRect">
            <a:avLst>
              <a:gd name="adj" fmla="val 3535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55748" y="2542032"/>
            <a:ext cx="15910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&amp; PESTLE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Porter's Five Forces radar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Kraljic matrix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5112" y="1874520"/>
            <a:ext cx="1810512" cy="457200"/>
          </a:xfrm>
          <a:prstGeom prst="roundRect">
            <a:avLst>
              <a:gd name="adj" fmla="val 14000"/>
            </a:avLst>
          </a:prstGeom>
          <a:solidFill>
            <a:srgbClr val="0F5E56"/>
          </a:solidFill>
          <a:ln w="12700">
            <a:solidFill>
              <a:srgbClr val="0F5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188366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STRATEGY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25112" y="2395728"/>
            <a:ext cx="1810512" cy="3017520"/>
          </a:xfrm>
          <a:prstGeom prst="roundRect">
            <a:avLst>
              <a:gd name="adj" fmla="val 3535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542032"/>
            <a:ext cx="15910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Suppliers, tiering &amp; SRM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heatmap 5×5 + ESG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 chessboard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drivers &amp; levers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4204" y="1874520"/>
            <a:ext cx="1810512" cy="457200"/>
          </a:xfrm>
          <a:prstGeom prst="roundRect">
            <a:avLst>
              <a:gd name="adj" fmla="val 14000"/>
            </a:avLst>
          </a:prstGeom>
          <a:solidFill>
            <a:srgbClr val="7D3B5E"/>
          </a:solidFill>
          <a:ln w="12700">
            <a:solidFill>
              <a:srgbClr val="7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4204" y="188366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BARGAINING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4204" y="2395728"/>
            <a:ext cx="1810512" cy="3017520"/>
          </a:xfrm>
          <a:prstGeom prst="roundRect">
            <a:avLst>
              <a:gd name="adj" fmla="val 3535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3932" y="2542032"/>
            <a:ext cx="15910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plan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BATNAs · issues matrix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83296" y="1874520"/>
            <a:ext cx="1810512" cy="457200"/>
          </a:xfrm>
          <a:prstGeom prst="roundRect">
            <a:avLst>
              <a:gd name="adj" fmla="val 14000"/>
            </a:avLst>
          </a:prstGeom>
          <a:solidFill>
            <a:srgbClr val="7D3B5E"/>
          </a:solidFill>
          <a:ln w="12700">
            <a:solidFill>
              <a:srgbClr val="7D3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3296" y="188366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EXECUTION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83296" y="2395728"/>
            <a:ext cx="1810512" cy="3017520"/>
          </a:xfrm>
          <a:prstGeom prst="roundRect">
            <a:avLst>
              <a:gd name="adj" fmla="val 3535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2542032"/>
            <a:ext cx="15910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 &amp; RACI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pipeline &amp; funnel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· maturity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2388" y="1874520"/>
            <a:ext cx="1810512" cy="457200"/>
          </a:xfrm>
          <a:prstGeom prst="roundRect">
            <a:avLst>
              <a:gd name="adj" fmla="val 14000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2388" y="188366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OUTPUT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962388" y="2395728"/>
            <a:ext cx="1810512" cy="3017520"/>
          </a:xfrm>
          <a:prstGeom prst="roundRect">
            <a:avLst>
              <a:gd name="adj" fmla="val 3535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72116" y="2542032"/>
            <a:ext cx="15910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7Ps (optional)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document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&amp; templates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5623560"/>
            <a:ext cx="11055096" cy="868680"/>
          </a:xfrm>
          <a:prstGeom prst="roundRect">
            <a:avLst>
              <a:gd name="adj" fmla="val 7368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57424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you can see:  </a:t>
            </a:r>
            <a:pPr indent="0" marL="0">
              <a:buNone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green/amber dots per step · per-phase completion counts in a collapsible rail · a Module Review dashboard with per-module Word export · autosave on every change.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PROVIDERS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Sandbox, Claude or Gemini — your choice of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provider any time in the header settings. The workflow is identical in all three; only the source of the AI drafting changes.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93592" cy="3794760"/>
          </a:xfrm>
          <a:prstGeom prst="roundRect">
            <a:avLst>
              <a:gd name="adj" fmla="val 1781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3852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🏖  SANDBOX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37744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95528" y="2569464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— no key, no account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" y="3026664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95528" y="3218688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5528" y="367588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LEAVES DEVICE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386791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— 100% offline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5528" y="4325112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95528" y="4517136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demo data, always tagged “[Sandbox — simulated]”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5528" y="4974336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95528" y="5166360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Demos, training, trying the method safely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1783080"/>
            <a:ext cx="3593592" cy="3794760"/>
          </a:xfrm>
          <a:prstGeom prst="roundRect">
            <a:avLst>
              <a:gd name="adj" fmla="val 1781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93852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37744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2569464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inside Claude.ai (in-app) · or an Anthropic API key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3026664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0" y="3218688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in-app / API usage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367588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LEAVES DEVICE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0" y="386791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your prompts, to Anthropic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0" y="4325112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0" y="4517136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drafting on current models (claude-sonnet-4-6)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4974336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0" y="5166360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strategy building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19872" y="1783080"/>
            <a:ext cx="3593592" cy="3794760"/>
          </a:xfrm>
          <a:prstGeom prst="roundRect">
            <a:avLst>
              <a:gd name="adj" fmla="val 1781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48472" y="193852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48472" y="237744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348472" y="2569464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key (Flash or Pro)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48472" y="3026664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348472" y="3218688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Google pricing / free tier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48472" y="367588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LEAVES DEVICE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348472" y="386791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your prompts, to Google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48472" y="4325112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348472" y="4517136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drafting with automatic model fallback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48472" y="4974336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348472" y="5166360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standardised on Google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5806440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" y="588873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default:  </a:t>
            </a:r>
            <a:pPr indent="0" marL="0">
              <a:buNone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live-API errors are shown, never silently swapped for simulated content — and API keys are stored on your device only, if you choose to save them.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MODULE BY MODULE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 drafts — and the control you keep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AI-generated section carries a banner explaining its sources; every value carries a confidence flag you can confirm with one click.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898648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110728" y="1828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CONTROL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" y="2116836"/>
            <a:ext cx="11247120" cy="431597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57984"/>
            <a:ext cx="22402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info hub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98648" y="2157984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variables, briefs &amp; cited research answers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10728" y="2157984"/>
            <a:ext cx="36118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the nine sliders; re-ask anything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589581"/>
            <a:ext cx="22402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· PESTLE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98648" y="2589581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Buyer-perspective analysis per factor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10728" y="2589581"/>
            <a:ext cx="36118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any cell; confirm to flip flag to User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2980030"/>
            <a:ext cx="11247120" cy="431597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21178"/>
            <a:ext cx="22402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Forces · Kraljic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98648" y="3021178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levels &amp; quadrant derived from market variables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110728" y="3021178"/>
            <a:ext cx="36118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override of every coordinate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452774"/>
            <a:ext cx="22402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&amp; SRM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98648" y="3452774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Segmentation, scorecards, preferencing (labelled subjective)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10728" y="3452774"/>
            <a:ext cx="36118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Re-score; SRM reviews accumulate as history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" y="3843223"/>
            <a:ext cx="11247120" cy="431597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884371"/>
            <a:ext cx="22402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heatmap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98648" y="3884371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likelihood/impact + ESG opportunities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10728" y="3884371"/>
            <a:ext cx="36118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Move, edit or delete any risk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4315968"/>
            <a:ext cx="22402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Chessboard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98648" y="4315968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recommendations for your power position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10728" y="4315968"/>
            <a:ext cx="36118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Appends only — tick Keep on what stays (cap 15)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" y="4706417"/>
            <a:ext cx="11247120" cy="431597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747565"/>
            <a:ext cx="22402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plan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898648" y="4747565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Objectives, BATNAs, issues matrix, trades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10728" y="4747565"/>
            <a:ext cx="36118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position editable before the room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" y="5179162"/>
            <a:ext cx="22402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value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98648" y="5179162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Gantt, RACI, savings pipeline with complexity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10728" y="5179162"/>
            <a:ext cx="36118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Owners, statuses and values stay yours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" y="5569610"/>
            <a:ext cx="11247120" cy="431597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5610758"/>
            <a:ext cx="22402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document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98648" y="5610758"/>
            <a:ext cx="51206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narrative, elevator pitch, defensible FAQs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10728" y="5610758"/>
            <a:ext cx="361188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 sections; export when satisfied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6152083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156655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048256" y="6152083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48256" y="6156655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AI-INFERRED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529584" y="6152083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6B6862"/>
          </a:solidFill>
          <a:ln w="12700">
            <a:solidFill>
              <a:srgbClr val="6B686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9584" y="6156655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38928" y="6152083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three confidence flags on every AI-touched value, one click to confirm.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· MARKET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the market, not the spreadsheet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 hub grounds the whole strategy in external evidence — so work starts on day one, with or without internal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6675120" cy="4480560"/>
          </a:xfrm>
          <a:prstGeom prst="roundRect">
            <a:avLst>
              <a:gd name="adj" fmla="val 1429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116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information hub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423160"/>
            <a:ext cx="6126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market variables (capacity tightness, entry barriers, switching cost…) set with AI-suggested defaults — these later drive Five Forces and Kraljic mathematically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 brief per category and region: structure, pricing dynamics, regulation to watch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assistant: ask specific questions (“what is driving hyperscaler price rises?”) and get structured, sourced-and-dated answers into the hub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PESTLE and SWOT drafted from the buyer’s perspective — including an Environmental/ESG read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spend CSV upload refines every downstream number; an approximate annual spend unlocks indicative values without 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0" y="1828800"/>
            <a:ext cx="4114800" cy="4480560"/>
          </a:xfrm>
          <a:prstGeom prst="roundRect">
            <a:avLst>
              <a:gd name="adj" fmla="val 1556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external-first matters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26680" y="237744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category strategies stall waiting for perfect spend data. CategoryAI inverts that: the market view is enough to position the category, pick the levers and draft the plan. Internal data then sharpens the numbers — it never blocks the thinking.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26680" y="4069080"/>
            <a:ext cx="36576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4206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MODE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09560" y="44805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internal data at all? The strategy document is generated in clearly-labelled generic mode — honest about what it doesn't know, still structurally complete.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Forces and Kraljic — derived, not guessed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 compute from the nine market variables, removing assessment bias. Every coordinate stays manually adjustable.</a:t>
            </a:r>
            <a:endParaRPr lang="en-US" sz="1250" dirty="0"/>
          </a:p>
        </p:txBody>
      </p:sp>
      <p:pic>
        <p:nvPicPr>
          <p:cNvPr id="5" name="Image 0" descr="img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10512"/>
            <a:ext cx="4892040" cy="4197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605332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force is derived from entry barriers, capacity tightness and switching costs — and explains its inputs. Manual override always available.</a:t>
            </a:r>
            <a:endParaRPr lang="en-US" sz="1000" dirty="0"/>
          </a:p>
        </p:txBody>
      </p:sp>
      <p:pic>
        <p:nvPicPr>
          <p:cNvPr id="7" name="Image 1" descr="img_kralj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10512"/>
            <a:ext cx="4709160" cy="420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2240" y="605332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amber dot is your live session position; quadrant strategy advice is written into the step.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· SUPPLIERS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strategy — before and after contract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step covers strategic segmentation, Gold/Silver/Bronze governance tiering, mutual-attractiveness preferencing and post-contract SRM.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577840" cy="4160520"/>
          </a:xfrm>
          <a:prstGeom prst="roundRect">
            <a:avLst>
              <a:gd name="adj" fmla="val 1538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3774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Five-dimension scorecard per supplier: Quality, Delivery, Cost, Innovation, ESG — every score confidence-flagged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Capability/alignment segmentation with tier suggestion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Preferencing model (account attractiveness × relative value) — explicitly labelled as a subjective best-suggestion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/ Silver / Bronze tiers carry differentiated governance: executive sponsorship and QBRs down to standard PO terms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12080" cy="4160520"/>
          </a:xfrm>
          <a:prstGeom prst="roundRect">
            <a:avLst>
              <a:gd name="adj" fmla="val 1538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61320" y="1993392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7D3B5E"/>
          </a:solidFill>
          <a:ln w="12700">
            <a:solidFill>
              <a:srgbClr val="7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61320" y="1997964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1.1.0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75120" y="1993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SRM post-contract reviews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3774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Date-stamped performance reviews on the same five dimensions — history accumulates, never overwrites the strategic scorecard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Radial gauge with four grades: Executive leader ≥90 · Preferred partner ≥70 · Transactional ≥50 · Improvement plan below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visible over time: the review table shows every snapshot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into the strategy document as an SRM history 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512064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0F5E56"/>
          </a:solidFill>
          <a:ln w="12700">
            <a:solidFill>
              <a:srgbClr val="0F5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512521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leader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70848" y="512064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7D3B5E"/>
          </a:solidFill>
          <a:ln w="12700">
            <a:solidFill>
              <a:srgbClr val="7D3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0848" y="512521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partner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5522976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552754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70848" y="5522976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B3402E"/>
          </a:solidFill>
          <a:ln w="12700">
            <a:solidFill>
              <a:srgbClr val="B34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0848" y="552754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plan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· METHODS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purchasing chessboard — methods you choose to keep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Sixty-four methods across four power strategies, recommended by AI for your position — grounded in a levers library of 20+ archetypes.</a:t>
            </a:r>
            <a:endParaRPr lang="en-US" sz="1250" dirty="0"/>
          </a:p>
        </p:txBody>
      </p:sp>
      <p:pic>
        <p:nvPicPr>
          <p:cNvPr id="5" name="Image 0" descr="img_ch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28800"/>
            <a:ext cx="3794760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150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64-method board · kept methods (✓) flow into negotiation and execution · licensed A.T. Kearney board pluggable via Admin.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0" y="1828800"/>
            <a:ext cx="3611880" cy="694944"/>
          </a:xfrm>
          <a:prstGeom prst="roundRect">
            <a:avLst>
              <a:gd name="adj" fmla="val 9211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73168" y="19110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POWER STRUCTURE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73168" y="21579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specifications, aggregate global volumes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0" y="2615184"/>
            <a:ext cx="3611880" cy="694944"/>
          </a:xfrm>
          <a:prstGeom prst="roundRect">
            <a:avLst>
              <a:gd name="adj" fmla="val 9211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2697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COMPETITION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73168" y="294436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multi-round RFPs, target-price indexation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0" y="3401568"/>
            <a:ext cx="3611880" cy="694944"/>
          </a:xfrm>
          <a:prstGeom prst="roundRect">
            <a:avLst>
              <a:gd name="adj" fmla="val 9211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73168" y="34838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 JOINT ADVANTAGE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73168" y="373075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partnerships, risk-sharing agreements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0" y="4187952"/>
            <a:ext cx="3611880" cy="694944"/>
          </a:xfrm>
          <a:prstGeom prst="roundRect">
            <a:avLst>
              <a:gd name="adj" fmla="val 9211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73168" y="42702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DEMAND &amp; SPEC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73168" y="451713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Standardisation, volume bundling, demand control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1828800"/>
            <a:ext cx="3246120" cy="3017520"/>
          </a:xfrm>
          <a:prstGeom prst="roundRect">
            <a:avLst>
              <a:gd name="adj" fmla="val 2121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77072" y="19751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Accumulate-and-select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577072" y="2331720"/>
            <a:ext cx="28529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Regeneration appends new recommendations — it never wipes your shortlist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“Keep” on the methods that stay (working cap of 15)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methods drive the negotiation and execution steps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0" y="5029200"/>
            <a:ext cx="70408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9744" y="51755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drivers &amp; levers library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809744" y="54864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cost drivers and 21 savings levers mapped across 20+ category archetypes (cloud, professional services, logistics, energy…). Pick the archetype; the relevant drivers, levers and weightings load — and feed the savings pipeline directly.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→ BARGAINING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the risk, then plan the room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5×5 heatmap keeps risk and ESG opportunity on the table; the negotiation module turns strategy into positions.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94960" cy="4160520"/>
          </a:xfrm>
          <a:prstGeom prst="roundRect">
            <a:avLst>
              <a:gd name="adj" fmla="val 1538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heatmap &amp; ESG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86968" y="3931920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1016" y="3931920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55064" y="3931920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3931920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3931920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3547872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71016" y="3547872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55064" y="3547872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39112" y="3547872"/>
            <a:ext cx="347472" cy="347472"/>
          </a:xfrm>
          <a:prstGeom prst="rect">
            <a:avLst/>
          </a:prstGeom>
          <a:solidFill>
            <a:srgbClr val="C98A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3547872"/>
            <a:ext cx="347472" cy="347472"/>
          </a:xfrm>
          <a:prstGeom prst="rect">
            <a:avLst/>
          </a:prstGeom>
          <a:solidFill>
            <a:srgbClr val="C98A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3163824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71016" y="3163824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55064" y="3163824"/>
            <a:ext cx="347472" cy="347472"/>
          </a:xfrm>
          <a:prstGeom prst="rect">
            <a:avLst/>
          </a:prstGeom>
          <a:solidFill>
            <a:srgbClr val="C98A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39112" y="3163824"/>
            <a:ext cx="347472" cy="347472"/>
          </a:xfrm>
          <a:prstGeom prst="rect">
            <a:avLst/>
          </a:prstGeom>
          <a:solidFill>
            <a:srgbClr val="C98A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3163824"/>
            <a:ext cx="347472" cy="347472"/>
          </a:xfrm>
          <a:prstGeom prst="rect">
            <a:avLst/>
          </a:prstGeom>
          <a:solidFill>
            <a:srgbClr val="B340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" y="2779776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71016" y="2779776"/>
            <a:ext cx="347472" cy="347472"/>
          </a:xfrm>
          <a:prstGeom prst="rect">
            <a:avLst/>
          </a:prstGeom>
          <a:solidFill>
            <a:srgbClr val="C98A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55064" y="2779776"/>
            <a:ext cx="347472" cy="347472"/>
          </a:xfrm>
          <a:prstGeom prst="rect">
            <a:avLst/>
          </a:prstGeom>
          <a:solidFill>
            <a:srgbClr val="C98A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39112" y="2779776"/>
            <a:ext cx="347472" cy="347472"/>
          </a:xfrm>
          <a:prstGeom prst="rect">
            <a:avLst/>
          </a:prstGeom>
          <a:solidFill>
            <a:srgbClr val="B340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3160" y="2779776"/>
            <a:ext cx="347472" cy="347472"/>
          </a:xfrm>
          <a:prstGeom prst="rect">
            <a:avLst/>
          </a:prstGeom>
          <a:solidFill>
            <a:srgbClr val="B340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6968" y="2395728"/>
            <a:ext cx="347472" cy="347472"/>
          </a:xfrm>
          <a:prstGeom prst="rect">
            <a:avLst/>
          </a:prstGeom>
          <a:solidFill>
            <a:srgbClr val="DDE7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71016" y="2395728"/>
            <a:ext cx="347472" cy="347472"/>
          </a:xfrm>
          <a:prstGeom prst="rect">
            <a:avLst/>
          </a:prstGeom>
          <a:solidFill>
            <a:srgbClr val="C98A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55064" y="2395728"/>
            <a:ext cx="347472" cy="347472"/>
          </a:xfrm>
          <a:prstGeom prst="rect">
            <a:avLst/>
          </a:prstGeom>
          <a:solidFill>
            <a:srgbClr val="B340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39112" y="2395728"/>
            <a:ext cx="347472" cy="347472"/>
          </a:xfrm>
          <a:prstGeom prst="rect">
            <a:avLst/>
          </a:prstGeom>
          <a:solidFill>
            <a:srgbClr val="B340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23160" y="2395728"/>
            <a:ext cx="347472" cy="347472"/>
          </a:xfrm>
          <a:prstGeom prst="rect">
            <a:avLst/>
          </a:prstGeom>
          <a:solidFill>
            <a:srgbClr val="B340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43616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↑ · Likelihood →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64408" y="2395728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proposes category risks scored for likelihood and impact; drag, edit or delete each</a:t>
            </a:r>
            <a:endParaRPr lang="en-US" sz="10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opportunities tracked alongside threats — value, not just exposure</a:t>
            </a:r>
            <a:endParaRPr lang="en-US" sz="10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mitigation actions into the execution plan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1828800"/>
            <a:ext cx="5212080" cy="4160520"/>
          </a:xfrm>
          <a:prstGeom prst="roundRect">
            <a:avLst>
              <a:gd name="adj" fmla="val 1538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19933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planning (Huthwaite-style)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75120" y="23774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with intend / expect / must-achieve ranges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BATNAs for both sides — know your walk-away and theirs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matrix scoring value vs. cost of every negotiable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board pairing concessions to requests, so nothing is given away free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it drafted by AI from your strategy, then edited by you before the room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·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plan to delivered value — and proof of maturity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tooling keeps the strategy honest after sign-off: who does what, what lands when, and what the category is actually worth.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577840" cy="1965960"/>
          </a:xfrm>
          <a:prstGeom prst="roundRect">
            <a:avLst>
              <a:gd name="adj" fmla="val 3256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pipeline &amp; funnel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331720"/>
            <a:ext cx="1554480" cy="457200"/>
          </a:xfrm>
          <a:prstGeom prst="rect">
            <a:avLst/>
          </a:prstGeom>
          <a:solidFill>
            <a:srgbClr val="C98A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95728" y="2331720"/>
            <a:ext cx="1234440" cy="457200"/>
          </a:xfrm>
          <a:prstGeom prst="rect">
            <a:avLst/>
          </a:prstGeom>
          <a:solidFill>
            <a:srgbClr val="7D3B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30168" y="2331720"/>
            <a:ext cx="1005840" cy="457200"/>
          </a:xfrm>
          <a:prstGeom prst="rect">
            <a:avLst/>
          </a:prstGeom>
          <a:solidFill>
            <a:srgbClr val="3E7C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2331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delivery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6008" y="2331720"/>
            <a:ext cx="868680" cy="457200"/>
          </a:xfrm>
          <a:prstGeom prst="rect">
            <a:avLst/>
          </a:prstGeom>
          <a:solidFill>
            <a:srgbClr val="0F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23317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1248" y="292608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by planned % of spend · complexity and owner per initiative · indicative £/$ view from uploaded spend or an approximate baseline (clearly flagged).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0" y="19568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7D3B5E"/>
          </a:solidFill>
          <a:ln w="12700">
            <a:solidFill>
              <a:srgbClr val="7D3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961388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1.1.0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" y="3931920"/>
            <a:ext cx="5577840" cy="2103120"/>
          </a:xfrm>
          <a:prstGeom prst="roundRect">
            <a:avLst>
              <a:gd name="adj" fmla="val 304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059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register — five types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" y="4434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F5E56"/>
          </a:solidFill>
          <a:ln w="12700">
            <a:solidFill>
              <a:srgbClr val="0F5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4394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14600" y="4434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F5E56"/>
          </a:solidFill>
          <a:ln w="12700">
            <a:solidFill>
              <a:srgbClr val="0F5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44394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87952" y="4434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F5E56"/>
          </a:solidFill>
          <a:ln w="12700">
            <a:solidFill>
              <a:srgbClr val="0F5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87952" y="44394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(hrs)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41248" y="483717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F5E56"/>
          </a:solidFill>
          <a:ln w="12700">
            <a:solidFill>
              <a:srgbClr val="0F5E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84174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(tCO₂e)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14600" y="483717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F5E56"/>
          </a:solidFill>
          <a:ln w="12700">
            <a:solidFill>
              <a:srgbClr val="0F5E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484174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value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41248" y="5349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benefit shows its exact upstream source in the plan.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1828800"/>
            <a:ext cx="5212080" cy="1965960"/>
          </a:xfrm>
          <a:prstGeom prst="roundRect">
            <a:avLst>
              <a:gd name="adj" fmla="val 3256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 &amp; RACI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Three-year interactive timeline and a responsibility matrix across procurement and the business — generated from the strategy, edited in place, exported with the document.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3931920"/>
            <a:ext cx="5212080" cy="2103120"/>
          </a:xfrm>
          <a:prstGeom prst="roundRect">
            <a:avLst>
              <a:gd name="adj" fmla="val 3043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405993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7D3B5E"/>
          </a:solidFill>
          <a:ln w="12700">
            <a:solidFill>
              <a:srgbClr val="7D3B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61320" y="4064508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1.1.0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7512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— two honest views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75120" y="43891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Self-assessment: </a:t>
            </a:r>
            <a:pPr indent="0" marL="0">
              <a:buNone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dimensions scored 1–5 (perception).
</a:t>
            </a:r>
            <a:pPr indent="0" marL="0">
              <a:buNone/>
            </a:pPr>
            <a:r>
              <a:rPr lang="en-US" sz="11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checklist: </a:t>
            </a:r>
            <a:pPr indent="0" marL="0">
              <a:buNone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practices across four CIPS/Hackett-style stages — a stage is awarded only when it and every stage below are complete. No skipping.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HELP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analyst in the corner of every screen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guide chat bubble reads the step you're on and answers from the app's own reference library — methods, levers, archetypes and your current context.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6035040" cy="4206240"/>
          </a:xfrm>
          <a:prstGeom prst="roundRect">
            <a:avLst>
              <a:gd name="adj" fmla="val 1522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10312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2128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 </a:t>
            </a:r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I govern a Gold-tier cloud supplier?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18488" y="3063240"/>
            <a:ext cx="4480560" cy="1691640"/>
          </a:xfrm>
          <a:prstGeom prst="roundRect">
            <a:avLst>
              <a:gd name="adj" fmla="val 5405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1368" y="32004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 </a:t>
            </a:r>
            <a:pPr indent="0" marL="0">
              <a:buNone/>
            </a:pPr>
            <a:r>
              <a:rPr lang="en-US" sz="105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tier warrants an executive sponsor, quarterly business reviews with SLA audits, and continuity planning. Your tier calculator weights value, risk and complexity — this supplier's profile supports Gold. See step 7 for the governance detail.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86968" y="4983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Context-aware: the guide prioritises the screen you have open, and closes itself when you move 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0" y="1828800"/>
            <a:ext cx="4754880" cy="4206240"/>
          </a:xfrm>
          <a:prstGeom prst="roundRect">
            <a:avLst>
              <a:gd name="adj" fmla="val 1522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1993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86600" y="23774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any framework in plain terms while you're using it</a:t>
            </a:r>
            <a:endParaRPr lang="en-US" sz="11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the master library: cost drivers, levers, chessboard plays, archetypes</a:t>
            </a:r>
            <a:endParaRPr lang="en-US" sz="11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Standardises judgement — every team member gets the same method guidance</a:t>
            </a:r>
            <a:endParaRPr lang="en-US" sz="11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every provider mode, including Sandbox</a:t>
            </a:r>
            <a:endParaRPr lang="en-US" sz="11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edits your data — it advises, you decide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OUTPUTS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Board-ready in one click — and portable forever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workflow builds can leave the app as a polished document, a deck, a fillable template or a re-loadable session.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337560" cy="1371600"/>
          </a:xfrm>
          <a:prstGeom prst="roundRect">
            <a:avLst>
              <a:gd name="adj" fmla="val 4667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4767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strategy document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2240280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.docx (offline .doc fallback) — full narrative: analysis, matrices, negotiation plan, RACI, pipeline, SRM history, pitch and 10 FAQs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87368" y="1828800"/>
            <a:ext cx="3337560" cy="1371600"/>
          </a:xfrm>
          <a:prstGeom prst="roundRect">
            <a:avLst>
              <a:gd name="adj" fmla="val 4667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88536" y="194767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board deck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88536" y="2240280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.pptx generated from your data — native charts and matrices, ready to present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3310128"/>
            <a:ext cx="3337560" cy="1371600"/>
          </a:xfrm>
          <a:prstGeom prst="roundRect">
            <a:avLst>
              <a:gd name="adj" fmla="val 4667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4290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master templates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" y="3721608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Fillable Word: Category Management Plan · Sourcing Strategy · Negotiation Plan · Execution Plan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87368" y="3310128"/>
            <a:ext cx="3337560" cy="1371600"/>
          </a:xfrm>
          <a:prstGeom prst="roundRect">
            <a:avLst>
              <a:gd name="adj" fmla="val 4667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8536" y="34290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Per-module Word reports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88536" y="3721608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briefing note for any single module, from the Module Review dashboard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4791456"/>
            <a:ext cx="3337560" cy="1371600"/>
          </a:xfrm>
          <a:prstGeom prst="roundRect">
            <a:avLst>
              <a:gd name="adj" fmla="val 4667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91032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files (.json)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68096" y="5202936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round-trip: export, share, re-import to continue — v1.0 files load in v1.1.0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87368" y="4791456"/>
            <a:ext cx="3337560" cy="1371600"/>
          </a:xfrm>
          <a:prstGeom prst="roundRect">
            <a:avLst>
              <a:gd name="adj" fmla="val 4667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8536" y="491032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Autosave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88536" y="5202936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persists locally in the browser; nothing to remember to save</a:t>
            </a:r>
            <a:endParaRPr lang="en-US" sz="900" dirty="0"/>
          </a:p>
        </p:txBody>
      </p:sp>
      <p:pic>
        <p:nvPicPr>
          <p:cNvPr id="23" name="Image 0" descr="img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783080"/>
            <a:ext cx="3749040" cy="432511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818120" y="61722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flags travel with the data — exported tables keep User / AI-inferred / Assumed provenance.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 seconds to your first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0B4038"/>
          </a:solidFill>
          <a:ln w="12700">
            <a:solidFill>
              <a:srgbClr val="0B40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file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HTML file, any modern browser. Nothing to install, no account to create.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0B4038"/>
          </a:solidFill>
          <a:ln w="12700">
            <a:solidFill>
              <a:srgbClr val="0B4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99432" y="269748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provider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306324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⚙ — start in Sandbox (no key, fully offline), switch to Claude or Gemini when ready.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19872" y="1783080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0B4038"/>
          </a:solidFill>
          <a:ln w="12700">
            <a:solidFill>
              <a:srgbClr val="0B4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75904" y="269748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tour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5904" y="306324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Sixteen guided stops on a simulated Cloud Services category — or name your own category and go.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4389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in the box:  </a:t>
            </a:r>
            <a:pPr indent="0" marL="0">
              <a:buNone/>
            </a:pPr>
            <a:r>
              <a:rPr lang="en-US" sz="1150" dirty="0">
                <a:solidFill>
                  <a:srgbClr val="D9E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 for keys, users, custom templates &amp; archetypes · collapsible phase navigation with hover help · minimisable tour for mobile · session import from any v1.0 file.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CategoryAI Strategic Category Suite · v1.1.0 · frozen 2026-07-14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doubles as the feature reference — keep it with the app.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2026-07-15T09:42:10Z</dcterms:created>
  <dcterms:modified xsi:type="dcterms:W3CDTF">2026-07-15T09:42:10Z</dcterms:modified>
</cp:coreProperties>
</file>